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Montserrat" panose="00000500000000000000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5660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719507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Customer Insights &amp; Engagement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4469844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Examining 3,900 transactions to uncover spending trends, customer segments, and subscription patterns that drive smarter business decisions.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763197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017401"/>
            <a:ext cx="4190762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3,900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428274" y="400300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Total Transactions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58309" y="4489133"/>
            <a:ext cx="41907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Comprehensive purchase records analyzed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219819" y="3017401"/>
            <a:ext cx="4190762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18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889784" y="400300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9819" y="4489133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Rich feature set for deep analysis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81329" y="3017401"/>
            <a:ext cx="4190762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37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0351294" y="400300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81329" y="4489133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Only in Review Rating column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8309" y="5426273"/>
            <a:ext cx="131137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 include customer demographics (Age, Gender, Location, Subscription Status), purchase details (Item, Category, Amount, Season, Size, Color), and shopping behavior (Discounts, Previous Purchases, Frequency, Review Rating, Shipping Type).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4931" y="1085017"/>
            <a:ext cx="5864423" cy="590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Preparation &amp; Cleaning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114931" y="1898928"/>
            <a:ext cx="179546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931" y="2181225"/>
            <a:ext cx="7886938" cy="228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14931" y="2316718"/>
            <a:ext cx="2846546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Loading &amp; Exploration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6114931" y="2701409"/>
            <a:ext cx="7886938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Imported dataset using pandas, checked structure with df.info() and summary statistics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114931" y="3247549"/>
            <a:ext cx="179546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931" y="3511868"/>
            <a:ext cx="7886938" cy="228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14931" y="3665339"/>
            <a:ext cx="2362914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Missing Data Handling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114931" y="4050030"/>
            <a:ext cx="7886938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Imputed Review Rating nulls using median rating per product category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114931" y="4596170"/>
            <a:ext cx="179546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931" y="4842629"/>
            <a:ext cx="7886938" cy="228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14931" y="5013960"/>
            <a:ext cx="2362914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Feature Engineering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114931" y="5398651"/>
            <a:ext cx="7886938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age_group bins and purchase_frequency_days from transaction data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114931" y="5944791"/>
            <a:ext cx="179546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04</a:t>
            </a:r>
            <a:endParaRPr lang="en-US" sz="14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931" y="6173272"/>
            <a:ext cx="7886938" cy="228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114931" y="6362581"/>
            <a:ext cx="2362914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Database Integration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6114931" y="6747272"/>
            <a:ext cx="7886938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Connected to PostgreSQL and loaded cleaned data for SQL analysis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49987"/>
            <a:ext cx="990326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Revenue &amp; Customer Spending Insights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298621"/>
            <a:ext cx="8338899" cy="401966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307675" y="6318290"/>
            <a:ext cx="216575" cy="216575"/>
          </a:xfrm>
          <a:prstGeom prst="roundRect">
            <a:avLst>
              <a:gd name="adj" fmla="val 8444"/>
            </a:avLst>
          </a:prstGeom>
          <a:solidFill>
            <a:srgbClr val="0C2C41"/>
          </a:solidFill>
          <a:ln/>
        </p:spPr>
      </p:sp>
      <p:sp>
        <p:nvSpPr>
          <p:cNvPr id="5" name="Text 2"/>
          <p:cNvSpPr/>
          <p:nvPr/>
        </p:nvSpPr>
        <p:spPr>
          <a:xfrm>
            <a:off x="3585210" y="6318290"/>
            <a:ext cx="126634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Subscribers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003959" y="6318290"/>
            <a:ext cx="216575" cy="216575"/>
          </a:xfrm>
          <a:prstGeom prst="roundRect">
            <a:avLst>
              <a:gd name="adj" fmla="val 8444"/>
            </a:avLst>
          </a:prstGeom>
          <a:solidFill>
            <a:srgbClr val="1B6493"/>
          </a:solidFill>
          <a:ln/>
        </p:spPr>
      </p:sp>
      <p:sp>
        <p:nvSpPr>
          <p:cNvPr id="7" name="Text 4"/>
          <p:cNvSpPr/>
          <p:nvPr/>
        </p:nvSpPr>
        <p:spPr>
          <a:xfrm>
            <a:off x="5281493" y="6318290"/>
            <a:ext cx="180344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Non-Subscribers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33466" y="2104192"/>
            <a:ext cx="4246126" cy="855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Subscribers Drive Higher Value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9633466" y="3175873"/>
            <a:ext cx="4246126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Subscribers spend more per transaction and generate significantly higher total revenue. Express shipping users also show elevated purchase amounts compared to standard shipping.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633466" y="5451038"/>
            <a:ext cx="4246126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Finding: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High-spending customers often use discounts but still exceed average purchase amounts, indicating price sensitivity doesn't always mean lower value.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5680" y="547688"/>
            <a:ext cx="5080635" cy="63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Top-Rated Products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80" y="1526619"/>
            <a:ext cx="1831896" cy="1831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5680" y="3573542"/>
            <a:ext cx="25403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Blouse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75680" y="3994190"/>
            <a:ext cx="3158490" cy="584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Highest average rating across all categories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9197" y="1526619"/>
            <a:ext cx="1831896" cy="1831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49197" y="3573542"/>
            <a:ext cx="25403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Dress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4049197" y="3994190"/>
            <a:ext cx="3158490" cy="584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 customer satisfaction scores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2713" y="1526619"/>
            <a:ext cx="1831896" cy="1831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22713" y="3573542"/>
            <a:ext cx="25403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Sweater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7422713" y="3994190"/>
            <a:ext cx="3158490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Consistently positive reviews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6230" y="1526619"/>
            <a:ext cx="1831896" cy="18318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96230" y="3573542"/>
            <a:ext cx="25403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Handbag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10796230" y="3994190"/>
            <a:ext cx="3158490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Top-rated accessory item</a:t>
            </a:r>
            <a:endParaRPr lang="en-US" sz="15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680" y="4922282"/>
            <a:ext cx="1831896" cy="18318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75680" y="6969204"/>
            <a:ext cx="25403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Pants</a:t>
            </a:r>
            <a:endParaRPr lang="en-US" sz="2000" dirty="0"/>
          </a:p>
        </p:txBody>
      </p:sp>
      <p:sp>
        <p:nvSpPr>
          <p:cNvPr id="17" name="Text 10"/>
          <p:cNvSpPr/>
          <p:nvPr/>
        </p:nvSpPr>
        <p:spPr>
          <a:xfrm>
            <a:off x="675680" y="7389852"/>
            <a:ext cx="3158490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marks for fit and quality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522" y="586502"/>
            <a:ext cx="8261866" cy="701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Customer Segmentation Analysis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22" y="1839158"/>
            <a:ext cx="8357116" cy="373713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21932" y="4583819"/>
            <a:ext cx="271043" cy="27104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95499" y="4511964"/>
            <a:ext cx="2139689" cy="267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Loyal Customers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5595499" y="4851756"/>
            <a:ext cx="3306729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5+ purchases, highest lifetime value.</a:t>
            </a:r>
            <a:endParaRPr lang="en-US" sz="12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21932" y="3373158"/>
            <a:ext cx="271043" cy="27104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86464" y="3301304"/>
            <a:ext cx="2139689" cy="267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Returning Customers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5586464" y="3641096"/>
            <a:ext cx="3306729" cy="20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2–5 purchases, growing trust.</a:t>
            </a:r>
            <a:endParaRPr lang="en-US" sz="12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21932" y="2180568"/>
            <a:ext cx="271043" cy="27104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86464" y="2108713"/>
            <a:ext cx="2139689" cy="267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New Customers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5586464" y="2448505"/>
            <a:ext cx="3306729" cy="20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First-time buyers exploring the brand.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9631561" y="2556510"/>
            <a:ext cx="3892748" cy="421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Building Customer Loyalty</a:t>
            </a:r>
            <a:endParaRPr lang="en-US" sz="2650" dirty="0"/>
          </a:p>
        </p:txBody>
      </p:sp>
      <p:sp>
        <p:nvSpPr>
          <p:cNvPr id="14" name="Text 8"/>
          <p:cNvSpPr/>
          <p:nvPr/>
        </p:nvSpPr>
        <p:spPr>
          <a:xfrm>
            <a:off x="9631561" y="3187422"/>
            <a:ext cx="4259818" cy="169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 with more than 5 purchases show significantly higher subscription rates, indicating strong correlation between repeat buying and subscription adoption.</a:t>
            </a:r>
            <a:endParaRPr lang="en-US" sz="1650" dirty="0"/>
          </a:p>
        </p:txBody>
      </p:sp>
      <p:sp>
        <p:nvSpPr>
          <p:cNvPr id="15" name="Shape 9"/>
          <p:cNvSpPr/>
          <p:nvPr/>
        </p:nvSpPr>
        <p:spPr>
          <a:xfrm>
            <a:off x="746522" y="6048732"/>
            <a:ext cx="4239101" cy="1595438"/>
          </a:xfrm>
          <a:prstGeom prst="roundRect">
            <a:avLst>
              <a:gd name="adj" fmla="val 2005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967383" y="6269593"/>
            <a:ext cx="2806422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New Customers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967383" y="6746319"/>
            <a:ext cx="3797379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First-time buyers exploring the brand</a:t>
            </a:r>
            <a:endParaRPr lang="en-US" sz="1650" dirty="0"/>
          </a:p>
        </p:txBody>
      </p:sp>
      <p:sp>
        <p:nvSpPr>
          <p:cNvPr id="18" name="Shape 12"/>
          <p:cNvSpPr/>
          <p:nvPr/>
        </p:nvSpPr>
        <p:spPr>
          <a:xfrm>
            <a:off x="5195530" y="6048732"/>
            <a:ext cx="4239220" cy="1595438"/>
          </a:xfrm>
          <a:prstGeom prst="roundRect">
            <a:avLst>
              <a:gd name="adj" fmla="val 2005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416391" y="6269593"/>
            <a:ext cx="2806422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Returning Customers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5416391" y="6746319"/>
            <a:ext cx="3797498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2-5 purchases showing growing trust</a:t>
            </a:r>
            <a:endParaRPr lang="en-US" sz="1650" dirty="0"/>
          </a:p>
        </p:txBody>
      </p:sp>
      <p:sp>
        <p:nvSpPr>
          <p:cNvPr id="21" name="Shape 15"/>
          <p:cNvSpPr/>
          <p:nvPr/>
        </p:nvSpPr>
        <p:spPr>
          <a:xfrm>
            <a:off x="9644658" y="6048732"/>
            <a:ext cx="4239101" cy="1595438"/>
          </a:xfrm>
          <a:prstGeom prst="roundRect">
            <a:avLst>
              <a:gd name="adj" fmla="val 2005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9865519" y="6269593"/>
            <a:ext cx="2806422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Loyal Customers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9865519" y="6746319"/>
            <a:ext cx="3797379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5+ purchases, highest lifetime value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3534" y="1097399"/>
            <a:ext cx="6608564" cy="61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Discount-Dependent Products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53534" y="2213967"/>
            <a:ext cx="3266718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Price Sensitivity Leaders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53534" y="2743438"/>
            <a:ext cx="4366974" cy="834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products show the highest percentage of discounted purchases, suggesting strong price sensitivity in these categories.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3534" y="3722251"/>
            <a:ext cx="4366974" cy="111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While discounts drive volume, analysis reveals many discount users still spend above average amounts—indicating opportunity to optimize pricing strategy without sacrificing revenue.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53534" y="5015270"/>
            <a:ext cx="4366974" cy="1835706"/>
          </a:xfrm>
          <a:prstGeom prst="roundRect">
            <a:avLst>
              <a:gd name="adj" fmla="val 15260"/>
            </a:avLst>
          </a:prstGeom>
          <a:solidFill>
            <a:srgbClr val="BEDFF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24" y="5291018"/>
            <a:ext cx="233362" cy="1866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0277" y="5222796"/>
            <a:ext cx="3573542" cy="139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Insight:</a:t>
            </a:r>
            <a:r>
              <a:rPr lang="en-US" sz="14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Balance promotional activity with margin protection by targeting discounts to specific customer segments rather than blanket offers.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3662" y="2134076"/>
            <a:ext cx="8500705" cy="48170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17389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Revenue by Age Group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298740"/>
            <a:ext cx="8338899" cy="442257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484471" y="6751796"/>
            <a:ext cx="216575" cy="216575"/>
          </a:xfrm>
          <a:prstGeom prst="roundRect">
            <a:avLst>
              <a:gd name="adj" fmla="val 8444"/>
            </a:avLst>
          </a:prstGeom>
          <a:solidFill>
            <a:srgbClr val="0C2C41"/>
          </a:solidFill>
          <a:ln/>
        </p:spPr>
      </p:sp>
      <p:sp>
        <p:nvSpPr>
          <p:cNvPr id="5" name="Text 2"/>
          <p:cNvSpPr/>
          <p:nvPr/>
        </p:nvSpPr>
        <p:spPr>
          <a:xfrm>
            <a:off x="1762006" y="6751796"/>
            <a:ext cx="54209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18-25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802374" y="6751796"/>
            <a:ext cx="216575" cy="216575"/>
          </a:xfrm>
          <a:prstGeom prst="roundRect">
            <a:avLst>
              <a:gd name="adj" fmla="val 8444"/>
            </a:avLst>
          </a:prstGeom>
          <a:solidFill>
            <a:srgbClr val="17567E"/>
          </a:solidFill>
          <a:ln/>
        </p:spPr>
      </p:sp>
      <p:sp>
        <p:nvSpPr>
          <p:cNvPr id="7" name="Text 4"/>
          <p:cNvSpPr/>
          <p:nvPr/>
        </p:nvSpPr>
        <p:spPr>
          <a:xfrm>
            <a:off x="3079909" y="6751796"/>
            <a:ext cx="57662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26-35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486394" y="6751796"/>
            <a:ext cx="216575" cy="216575"/>
          </a:xfrm>
          <a:prstGeom prst="roundRect">
            <a:avLst>
              <a:gd name="adj" fmla="val 8444"/>
            </a:avLst>
          </a:prstGeom>
          <a:solidFill>
            <a:srgbClr val="2280BB"/>
          </a:solidFill>
          <a:ln/>
        </p:spPr>
      </p:sp>
      <p:sp>
        <p:nvSpPr>
          <p:cNvPr id="9" name="Text 6"/>
          <p:cNvSpPr/>
          <p:nvPr/>
        </p:nvSpPr>
        <p:spPr>
          <a:xfrm>
            <a:off x="4763929" y="6751796"/>
            <a:ext cx="604957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36-45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185654" y="6751796"/>
            <a:ext cx="216575" cy="216575"/>
          </a:xfrm>
          <a:prstGeom prst="roundRect">
            <a:avLst>
              <a:gd name="adj" fmla="val 8444"/>
            </a:avLst>
          </a:prstGeom>
          <a:solidFill>
            <a:srgbClr val="48A3DE"/>
          </a:solidFill>
          <a:ln/>
        </p:spPr>
      </p:sp>
      <p:sp>
        <p:nvSpPr>
          <p:cNvPr id="11" name="Text 8"/>
          <p:cNvSpPr/>
          <p:nvPr/>
        </p:nvSpPr>
        <p:spPr>
          <a:xfrm>
            <a:off x="6463189" y="6751796"/>
            <a:ext cx="60305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46-55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551301" y="6751796"/>
            <a:ext cx="216575" cy="216575"/>
          </a:xfrm>
          <a:prstGeom prst="roundRect">
            <a:avLst>
              <a:gd name="adj" fmla="val 8444"/>
            </a:avLst>
          </a:prstGeom>
          <a:solidFill>
            <a:srgbClr val="85C2E9"/>
          </a:solidFill>
          <a:ln/>
        </p:spPr>
      </p:sp>
      <p:sp>
        <p:nvSpPr>
          <p:cNvPr id="13" name="Text 10"/>
          <p:cNvSpPr/>
          <p:nvPr/>
        </p:nvSpPr>
        <p:spPr>
          <a:xfrm>
            <a:off x="7828836" y="6751796"/>
            <a:ext cx="380167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56+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633466" y="2624257"/>
            <a:ext cx="4246126" cy="855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Age-Based Revenue Patterns</a:t>
            </a:r>
            <a:endParaRPr lang="en-US" sz="2650" dirty="0"/>
          </a:p>
        </p:txBody>
      </p:sp>
      <p:sp>
        <p:nvSpPr>
          <p:cNvPr id="15" name="Text 12"/>
          <p:cNvSpPr/>
          <p:nvPr/>
        </p:nvSpPr>
        <p:spPr>
          <a:xfrm>
            <a:off x="9633466" y="3695938"/>
            <a:ext cx="4246126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36-45 age group generates the highest revenue, followed closely by 26-35 year-olds. These two segments represent the core customer base.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633466" y="5277683"/>
            <a:ext cx="4246126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Younger customers (18-25) show strong engagement but lower individual spend, while older segments (56+) contribute less overall volume.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435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854529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Power BI Dashboard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4892159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an interactive dashboard presenting all insights visually, enabling stakeholders to explore data dynamically and make informed decisions in real-time.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309" y="5829300"/>
            <a:ext cx="433268" cy="4332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2326" y="590371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Visual Analytics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462326" y="6389846"/>
            <a:ext cx="348674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charts and graphs for trend analysis</a:t>
            </a:r>
            <a:endParaRPr lang="en-US" sz="1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19819" y="5829300"/>
            <a:ext cx="433268" cy="4332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23836" y="590371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Dynamic Filtering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5923836" y="6389846"/>
            <a:ext cx="348674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Slice data by category, demographics, and time</a:t>
            </a:r>
            <a:endParaRPr lang="en-US" sz="17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81329" y="5829300"/>
            <a:ext cx="433268" cy="4332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385346" y="590371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KPI Tracking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10385346" y="6389846"/>
            <a:ext cx="348674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 key performance indicators at a glance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949" y="643414"/>
            <a:ext cx="6035993" cy="596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Strategic Recommendations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32949" y="1542812"/>
            <a:ext cx="13164503" cy="1087398"/>
          </a:xfrm>
          <a:prstGeom prst="roundRect">
            <a:avLst>
              <a:gd name="adj" fmla="val 25003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5809" y="1565672"/>
            <a:ext cx="724972" cy="1041678"/>
          </a:xfrm>
          <a:prstGeom prst="roundRect">
            <a:avLst>
              <a:gd name="adj" fmla="val 33718"/>
            </a:avLst>
          </a:prstGeom>
          <a:solidFill>
            <a:srgbClr val="D4E9F7"/>
          </a:solidFill>
          <a:ln/>
        </p:spPr>
      </p:sp>
      <p:sp>
        <p:nvSpPr>
          <p:cNvPr id="5" name="Text 3"/>
          <p:cNvSpPr/>
          <p:nvPr/>
        </p:nvSpPr>
        <p:spPr>
          <a:xfrm>
            <a:off x="978575" y="1916549"/>
            <a:ext cx="271820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32347" y="1746885"/>
            <a:ext cx="2384822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Boost Subscriptions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632347" y="2135862"/>
            <a:ext cx="12061031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Promote exclusive benefits and perks to convert high-frequency buyers into subscribers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2949" y="2781776"/>
            <a:ext cx="13164503" cy="1087398"/>
          </a:xfrm>
          <a:prstGeom prst="roundRect">
            <a:avLst>
              <a:gd name="adj" fmla="val 25003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5809" y="2804636"/>
            <a:ext cx="724972" cy="1041678"/>
          </a:xfrm>
          <a:prstGeom prst="roundRect">
            <a:avLst>
              <a:gd name="adj" fmla="val 33718"/>
            </a:avLst>
          </a:prstGeom>
          <a:solidFill>
            <a:srgbClr val="D4E9F7"/>
          </a:solidFill>
          <a:ln/>
        </p:spPr>
      </p:sp>
      <p:sp>
        <p:nvSpPr>
          <p:cNvPr id="10" name="Text 8"/>
          <p:cNvSpPr/>
          <p:nvPr/>
        </p:nvSpPr>
        <p:spPr>
          <a:xfrm>
            <a:off x="978575" y="3155513"/>
            <a:ext cx="271820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632347" y="2985849"/>
            <a:ext cx="2932152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Customer Loyalty Programs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632347" y="3374827"/>
            <a:ext cx="12061031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Reward repeat buyers to accelerate movement into the "Loyal" segment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2949" y="4020741"/>
            <a:ext cx="13164503" cy="1087398"/>
          </a:xfrm>
          <a:prstGeom prst="roundRect">
            <a:avLst>
              <a:gd name="adj" fmla="val 25003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5809" y="4043601"/>
            <a:ext cx="724972" cy="1041678"/>
          </a:xfrm>
          <a:prstGeom prst="roundRect">
            <a:avLst>
              <a:gd name="adj" fmla="val 33718"/>
            </a:avLst>
          </a:prstGeom>
          <a:solidFill>
            <a:srgbClr val="D4E9F7"/>
          </a:solidFill>
          <a:ln/>
        </p:spPr>
      </p:sp>
      <p:sp>
        <p:nvSpPr>
          <p:cNvPr id="15" name="Text 13"/>
          <p:cNvSpPr/>
          <p:nvPr/>
        </p:nvSpPr>
        <p:spPr>
          <a:xfrm>
            <a:off x="978575" y="4394478"/>
            <a:ext cx="271820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632347" y="4224814"/>
            <a:ext cx="2428518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Review Discount Policy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1632347" y="4613791"/>
            <a:ext cx="12061031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 promotional sales boosts with margin control through targeted offers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2949" y="5259705"/>
            <a:ext cx="13164503" cy="1087398"/>
          </a:xfrm>
          <a:prstGeom prst="roundRect">
            <a:avLst>
              <a:gd name="adj" fmla="val 25003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5809" y="5282565"/>
            <a:ext cx="724972" cy="1041678"/>
          </a:xfrm>
          <a:prstGeom prst="roundRect">
            <a:avLst>
              <a:gd name="adj" fmla="val 33718"/>
            </a:avLst>
          </a:prstGeom>
          <a:solidFill>
            <a:srgbClr val="D4E9F7"/>
          </a:solidFill>
          <a:ln/>
        </p:spPr>
      </p:sp>
      <p:sp>
        <p:nvSpPr>
          <p:cNvPr id="20" name="Text 18"/>
          <p:cNvSpPr/>
          <p:nvPr/>
        </p:nvSpPr>
        <p:spPr>
          <a:xfrm>
            <a:off x="978575" y="5633442"/>
            <a:ext cx="271820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632347" y="5463778"/>
            <a:ext cx="2384822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Product Positioning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632347" y="5852755"/>
            <a:ext cx="12061031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Highlight top-rated and best-selling products in marketing campaigns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2949" y="6498669"/>
            <a:ext cx="13164503" cy="1087398"/>
          </a:xfrm>
          <a:prstGeom prst="roundRect">
            <a:avLst>
              <a:gd name="adj" fmla="val 25003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5809" y="6521529"/>
            <a:ext cx="724972" cy="1041678"/>
          </a:xfrm>
          <a:prstGeom prst="roundRect">
            <a:avLst>
              <a:gd name="adj" fmla="val 33718"/>
            </a:avLst>
          </a:prstGeom>
          <a:solidFill>
            <a:srgbClr val="D4E9F7"/>
          </a:solidFill>
          <a:ln/>
        </p:spPr>
      </p:sp>
      <p:sp>
        <p:nvSpPr>
          <p:cNvPr id="25" name="Text 23"/>
          <p:cNvSpPr/>
          <p:nvPr/>
        </p:nvSpPr>
        <p:spPr>
          <a:xfrm>
            <a:off x="978575" y="6872407"/>
            <a:ext cx="271820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632347" y="6702742"/>
            <a:ext cx="2384822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Targeted Marketing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1632347" y="7091720"/>
            <a:ext cx="12061031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efforts on high-revenue age groups (26-45) and express-shipping users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599</Words>
  <Application>Microsoft Office PowerPoint</Application>
  <PresentationFormat>Custom</PresentationFormat>
  <Paragraphs>106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Montserrat</vt:lpstr>
      <vt:lpstr>Arial</vt:lpstr>
      <vt:lpstr>Barlow Light</vt:lpstr>
      <vt:lpstr>Barlow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Manal Mestry</cp:lastModifiedBy>
  <cp:revision>1</cp:revision>
  <dcterms:created xsi:type="dcterms:W3CDTF">2026-02-16T06:26:04Z</dcterms:created>
  <dcterms:modified xsi:type="dcterms:W3CDTF">2026-02-16T06:27:32Z</dcterms:modified>
</cp:coreProperties>
</file>